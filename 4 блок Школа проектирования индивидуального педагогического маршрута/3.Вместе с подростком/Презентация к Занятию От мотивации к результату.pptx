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  <p:sldMasterId id="2147483720" r:id="rId2"/>
  </p:sldMasterIdLst>
  <p:notesMasterIdLst>
    <p:notesMasterId r:id="rId39"/>
  </p:notesMasterIdLst>
  <p:handoutMasterIdLst>
    <p:handoutMasterId r:id="rId40"/>
  </p:handoutMasterIdLst>
  <p:sldIdLst>
    <p:sldId id="256" r:id="rId3"/>
    <p:sldId id="298" r:id="rId4"/>
    <p:sldId id="301" r:id="rId5"/>
    <p:sldId id="261" r:id="rId6"/>
    <p:sldId id="262" r:id="rId7"/>
    <p:sldId id="260" r:id="rId8"/>
    <p:sldId id="263" r:id="rId9"/>
    <p:sldId id="264" r:id="rId10"/>
    <p:sldId id="268" r:id="rId11"/>
    <p:sldId id="269" r:id="rId12"/>
    <p:sldId id="271" r:id="rId13"/>
    <p:sldId id="304" r:id="rId14"/>
    <p:sldId id="303" r:id="rId15"/>
    <p:sldId id="305" r:id="rId16"/>
    <p:sldId id="276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7" r:id="rId25"/>
    <p:sldId id="286" r:id="rId26"/>
    <p:sldId id="289" r:id="rId27"/>
    <p:sldId id="288" r:id="rId28"/>
    <p:sldId id="290" r:id="rId29"/>
    <p:sldId id="291" r:id="rId30"/>
    <p:sldId id="302" r:id="rId31"/>
    <p:sldId id="300" r:id="rId32"/>
    <p:sldId id="299" r:id="rId33"/>
    <p:sldId id="294" r:id="rId34"/>
    <p:sldId id="293" r:id="rId35"/>
    <p:sldId id="295" r:id="rId36"/>
    <p:sldId id="296" r:id="rId37"/>
    <p:sldId id="306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7490A-8B02-4639-82CF-F1EDBA1953BE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7385B-A1C8-4C02-B43F-5ED862C24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3986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BF9A2-4BF2-49DB-AD55-D14E36D1F421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2A431-E8FC-4265-AEC7-DFF16F772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7032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12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12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2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3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1" y="1009652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2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1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7" y="5357594"/>
            <a:ext cx="1213821" cy="365125"/>
          </a:xfrm>
        </p:spPr>
        <p:txBody>
          <a:bodyPr/>
          <a:lstStyle/>
          <a:p>
            <a:fld id="{E7B2A136-3BF0-4407-AB0B-38BFA0FF8FE9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5" y="5357594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1" y="5357594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0F65-D6F9-4340-B787-E456E7802BB4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80" y="2239432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8" y="3725336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E0EA-B58B-40E2-8496-A27693FDCFD3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75DF6-3EAC-4BFD-9373-6FA7600E5A31}" type="datetime1">
              <a:rPr lang="ru-RU" smtClean="0"/>
              <a:t>02.11.2025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70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882D-688C-4B83-BD81-4F2ECBF80E4A}" type="datetime1">
              <a:rPr lang="ru-RU" smtClean="0"/>
              <a:t>02.11.2025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DA466-A491-4F0F-B426-F42F083E049B}" type="datetime1">
              <a:rPr lang="ru-RU" smtClean="0"/>
              <a:t>02.11.2025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D93F-AC2F-4808-BE85-5F95D7548166}" type="datetime1">
              <a:rPr lang="ru-RU" smtClean="0"/>
              <a:t>02.11.2025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3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7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5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9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2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6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9" y="5885674"/>
            <a:ext cx="1213821" cy="365125"/>
          </a:xfrm>
        </p:spPr>
        <p:txBody>
          <a:bodyPr/>
          <a:lstStyle/>
          <a:p>
            <a:fld id="{F155DC29-830C-43E2-B3B1-37DCDF3D6215}" type="datetime1">
              <a:rPr lang="ru-RU" smtClean="0"/>
              <a:t>02.11.2025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5" y="5829263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4" y="5896963"/>
            <a:ext cx="554023" cy="365125"/>
          </a:xfrm>
        </p:spPr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5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9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3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9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6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7" y="5888739"/>
            <a:ext cx="1213821" cy="365125"/>
          </a:xfrm>
        </p:spPr>
        <p:txBody>
          <a:bodyPr/>
          <a:lstStyle/>
          <a:p>
            <a:fld id="{2BBA9AB2-8D6E-4665-B42B-6ABA7FCE3A9A}" type="datetime1">
              <a:rPr lang="ru-RU" smtClean="0"/>
              <a:t>02.11.2025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70" y="5831039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90" y="5900028"/>
            <a:ext cx="554023" cy="365125"/>
          </a:xfrm>
        </p:spPr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9C5EA-DBC9-416A-86D0-C047D937C9C8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2" y="925691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2" y="1106313"/>
            <a:ext cx="5178779" cy="440266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1A1D-6283-4FA1-8868-4EA5014D4B92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wrap="square" lIns="145119" tIns="145119" rIns="145119" bIns="145119" anchor="ctr" anchorCtr="0">
            <a:noAutofit/>
          </a:bodyPr>
          <a:lstStyle/>
          <a:p>
            <a:pPr defTabSz="914399"/>
            <a:endParaRPr sz="2200" kern="0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Shape 11"/>
          <p:cNvGrpSpPr/>
          <p:nvPr/>
        </p:nvGrpSpPr>
        <p:grpSpPr>
          <a:xfrm>
            <a:off x="1" y="-9448"/>
            <a:ext cx="8661399" cy="6867451"/>
            <a:chOff x="0" y="-7088"/>
            <a:chExt cx="8661398" cy="5150588"/>
          </a:xfrm>
        </p:grpSpPr>
        <p:sp>
          <p:nvSpPr>
            <p:cNvPr id="12" name="Shape 1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Shape 1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Shape 14"/>
          <p:cNvGrpSpPr/>
          <p:nvPr/>
        </p:nvGrpSpPr>
        <p:grpSpPr>
          <a:xfrm rot="10800000" flipH="1">
            <a:off x="7" y="1454351"/>
            <a:ext cx="8847503" cy="3949300"/>
            <a:chOff x="-8178042" y="-4493254"/>
            <a:chExt cx="19483598" cy="6522736"/>
          </a:xfrm>
        </p:grpSpPr>
        <p:sp>
          <p:nvSpPr>
            <p:cNvPr id="15" name="Shape 15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Shape 1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Shape 17"/>
          <p:cNvGrpSpPr/>
          <p:nvPr/>
        </p:nvGrpSpPr>
        <p:grpSpPr>
          <a:xfrm>
            <a:off x="3677236" y="5704465"/>
            <a:ext cx="5480829" cy="577328"/>
            <a:chOff x="5582265" y="4646738"/>
            <a:chExt cx="5480829" cy="432996"/>
          </a:xfrm>
        </p:grpSpPr>
        <p:sp>
          <p:nvSpPr>
            <p:cNvPr id="18" name="Shape 18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19" name="Shape 19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Shape 20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Shape 22"/>
          <p:cNvSpPr txBox="1">
            <a:spLocks noGrp="1"/>
          </p:cNvSpPr>
          <p:nvPr>
            <p:ph type="ctrTitle"/>
          </p:nvPr>
        </p:nvSpPr>
        <p:spPr>
          <a:xfrm>
            <a:off x="685803" y="1454333"/>
            <a:ext cx="5367900" cy="3949200"/>
          </a:xfrm>
          <a:prstGeom prst="rect">
            <a:avLst/>
          </a:prstGeom>
        </p:spPr>
        <p:txBody>
          <a:bodyPr wrap="square" lIns="145119" tIns="145119" rIns="145119" bIns="145119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273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Shape 82"/>
          <p:cNvGrpSpPr/>
          <p:nvPr/>
        </p:nvGrpSpPr>
        <p:grpSpPr>
          <a:xfrm>
            <a:off x="-4" y="59"/>
            <a:ext cx="7072431" cy="1769753"/>
            <a:chOff x="-4" y="40"/>
            <a:chExt cx="7072430" cy="1327315"/>
          </a:xfrm>
        </p:grpSpPr>
        <p:sp>
          <p:nvSpPr>
            <p:cNvPr id="83" name="Shape 8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Shape 8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Shape 8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Shape 8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Shape 8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Shape 8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Shape 8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Shape 90"/>
          <p:cNvGrpSpPr/>
          <p:nvPr/>
        </p:nvGrpSpPr>
        <p:grpSpPr>
          <a:xfrm>
            <a:off x="6946844" y="5963644"/>
            <a:ext cx="2202831" cy="894393"/>
            <a:chOff x="5575242" y="4472723"/>
            <a:chExt cx="2202830" cy="670795"/>
          </a:xfrm>
        </p:grpSpPr>
        <p:sp>
          <p:nvSpPr>
            <p:cNvPr id="91" name="Shape 9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914399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92" name="Shape 9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Shape 9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4" name="Shape 9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Shape 9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Shape 9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7" name="Shape 9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defTabSz="914399"/>
                <a:endParaRPr sz="2200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wrap="square" lIns="145119" tIns="145119" rIns="145119" bIns="145119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wrap="square" lIns="145119" tIns="145119" rIns="145119" bIns="145119" anchor="t" anchorCtr="0"/>
          <a:lstStyle>
            <a:lvl1pPr marL="725714" lvl="0" indent="-564444">
              <a:spcBef>
                <a:spcPts val="952"/>
              </a:spcBef>
              <a:spcAft>
                <a:spcPts val="0"/>
              </a:spcAft>
              <a:buSzPts val="2000"/>
              <a:buChar char="▰"/>
              <a:defRPr sz="3200"/>
            </a:lvl1pPr>
            <a:lvl2pPr marL="1451422" lvl="1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2pPr>
            <a:lvl3pPr marL="2177136" lvl="2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3pPr>
            <a:lvl4pPr marL="2902845" lvl="3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4pPr>
            <a:lvl5pPr marL="3628557" lvl="4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5pPr>
            <a:lvl6pPr marL="4354269" lvl="5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6pPr>
            <a:lvl7pPr marL="5079981" lvl="6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7pPr>
            <a:lvl8pPr marL="5805689" lvl="7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8pPr>
            <a:lvl9pPr marL="6531403" lvl="8" indent="-564444">
              <a:spcBef>
                <a:spcPts val="1587"/>
              </a:spcBef>
              <a:spcAft>
                <a:spcPts val="1587"/>
              </a:spcAft>
              <a:buSzPts val="2000"/>
              <a:buChar char="▻"/>
              <a:defRPr sz="3200"/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body" idx="2"/>
          </p:nvPr>
        </p:nvSpPr>
        <p:spPr>
          <a:xfrm>
            <a:off x="4396126" y="2050651"/>
            <a:ext cx="3378300" cy="3632400"/>
          </a:xfrm>
          <a:prstGeom prst="rect">
            <a:avLst/>
          </a:prstGeom>
        </p:spPr>
        <p:txBody>
          <a:bodyPr wrap="square" lIns="145119" tIns="145119" rIns="145119" bIns="145119" anchor="t" anchorCtr="0"/>
          <a:lstStyle>
            <a:lvl1pPr marL="725714" lvl="0" indent="-564444">
              <a:spcBef>
                <a:spcPts val="952"/>
              </a:spcBef>
              <a:spcAft>
                <a:spcPts val="0"/>
              </a:spcAft>
              <a:buSzPts val="2000"/>
              <a:buChar char="▰"/>
              <a:defRPr sz="3200"/>
            </a:lvl1pPr>
            <a:lvl2pPr marL="1451422" lvl="1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2pPr>
            <a:lvl3pPr marL="2177136" lvl="2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3pPr>
            <a:lvl4pPr marL="2902845" lvl="3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4pPr>
            <a:lvl5pPr marL="3628557" lvl="4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5pPr>
            <a:lvl6pPr marL="4354269" lvl="5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6pPr>
            <a:lvl7pPr marL="5079981" lvl="6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7pPr>
            <a:lvl8pPr marL="5805689" lvl="7" indent="-564444">
              <a:spcBef>
                <a:spcPts val="1587"/>
              </a:spcBef>
              <a:spcAft>
                <a:spcPts val="0"/>
              </a:spcAft>
              <a:buSzPts val="2000"/>
              <a:buChar char="▻"/>
              <a:defRPr sz="3200"/>
            </a:lvl8pPr>
            <a:lvl9pPr marL="6531403" lvl="8" indent="-564444">
              <a:spcBef>
                <a:spcPts val="1587"/>
              </a:spcBef>
              <a:spcAft>
                <a:spcPts val="1587"/>
              </a:spcAft>
              <a:buSzPts val="2000"/>
              <a:buChar char="▻"/>
              <a:defRPr sz="3200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wrap="square" lIns="145119" tIns="145119" rIns="145119" bIns="145119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000000"/>
                </a:solidFill>
              </a:rPr>
              <a:pPr/>
              <a:t>‹#›</a:t>
            </a:fld>
            <a:endParaRPr lang="e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1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1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2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4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1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9" y="5809154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1950C6C9-A404-4A9E-A1D5-5BAB7F69CF62}" type="datetime1">
              <a:rPr lang="ru-RU" smtClean="0"/>
              <a:t>02.11.2025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2" y="5809154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3" y="5809154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1DCD5A8-0E5B-4E6A-8911-FF1B3020E8A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wrap="square" lIns="145119" tIns="145119" rIns="145119" bIns="145119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wrap="square" lIns="145119" tIns="145119" rIns="145119" bIns="145119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wrap="square" lIns="145119" tIns="145119" rIns="145119" bIns="145119" anchor="ctr" anchorCtr="0">
            <a:noAutofit/>
          </a:bodyPr>
          <a:lstStyle/>
          <a:p>
            <a:pPr algn="r" defTabSz="914399"/>
            <a:fld id="{00000000-1234-1234-1234-123412341234}" type="slidenum">
              <a:rPr lang="en" sz="1900" b="1" kern="0" smtClean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pPr algn="r" defTabSz="914399"/>
              <a:t>‹#›</a:t>
            </a:fld>
            <a:endParaRPr lang="en" sz="1900" b="1" kern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4449083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2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://eco.m5.by/%d0%bf%d0%be%d0%bb%d0%be%d0%b6%d0%b5%d0%bd%d0%b8%d1%8f/" TargetMode="External"/><Relationship Id="rId3" Type="http://schemas.openxmlformats.org/officeDocument/2006/relationships/hyperlink" Target="http://bpo.academy.edu.by/" TargetMode="External"/><Relationship Id="rId7" Type="http://schemas.openxmlformats.org/officeDocument/2006/relationships/hyperlink" Target="http://agss-conf.org/poisk/" TargetMode="External"/><Relationship Id="rId2" Type="http://schemas.openxmlformats.org/officeDocument/2006/relationships/hyperlink" Target="http://academy.edu.by/component/content/article/2110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u.by/ru/instytut/2016-03-14-13-28-45.html" TargetMode="External"/><Relationship Id="rId5" Type="http://schemas.openxmlformats.org/officeDocument/2006/relationships/hyperlink" Target="http://olimp.adu.by/" TargetMode="External"/><Relationship Id="rId4" Type="http://schemas.openxmlformats.org/officeDocument/2006/relationships/hyperlink" Target="https://adu.by/ru/uchitelyu/meropriyatiya-seminary-konferentsii-konkursy-i-dr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academy.edu.by/component/content/article/2046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academy.edu.by/semenarikonfer.html" TargetMode="External"/><Relationship Id="rId4" Type="http://schemas.openxmlformats.org/officeDocument/2006/relationships/hyperlink" Target="http://academy.edu.by/component/content/article/2037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academy.edu.by/component/content/article/1934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eco.m5.by/%D0%BF%D0%BE%D0%BB%D0%BE%D0%B6%D0%B5%D0%BD%D0%B8%D1%8F/" TargetMode="External"/><Relationship Id="rId4" Type="http://schemas.openxmlformats.org/officeDocument/2006/relationships/hyperlink" Target="http://academy.edu.by/component/content/article/2037.html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3284984"/>
            <a:ext cx="7056784" cy="12954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3. «От мотивации к результату: организация исследовательской деятельности с учащимися»</a:t>
            </a:r>
          </a:p>
        </p:txBody>
      </p:sp>
    </p:spTree>
    <p:extLst>
      <p:ext uri="{BB962C8B-B14F-4D97-AF65-F5344CB8AC3E}">
        <p14:creationId xmlns:p14="http://schemas.microsoft.com/office/powerpoint/2010/main" val="275055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3D540-A540-4F89-A139-F05F46C0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59" y="725513"/>
            <a:ext cx="6965245" cy="831279"/>
          </a:xfrm>
        </p:spPr>
        <p:txBody>
          <a:bodyPr/>
          <a:lstStyle/>
          <a:p>
            <a:r>
              <a:rPr lang="ru-RU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F6BB2A-A8A8-4D65-92BC-2FF11500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45" y="1654944"/>
            <a:ext cx="6965245" cy="3603812"/>
          </a:xfrm>
        </p:spPr>
        <p:txBody>
          <a:bodyPr>
            <a:noAutofit/>
          </a:bodyPr>
          <a:lstStyle/>
          <a:p>
            <a:pPr marL="0" marR="0" lvl="0" indent="3600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Какой ребенок может стать «исследователем»: психолого-педагогические аспекты?</a:t>
            </a:r>
          </a:p>
          <a:p>
            <a:pPr marL="0" marR="0" lvl="0" indent="3600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Выбор темы исследования и постановка проблемы. Требования к оформлению исследования: основные положения.</a:t>
            </a:r>
          </a:p>
          <a:p>
            <a:pPr marL="0" marR="0" lvl="0" indent="3600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Представление результатов исследования (примеры «провала» и «успешности»).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002631-046E-455B-9B91-03EC0466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379B1A-B6C7-4B45-B19C-031C4BE5D953}"/>
              </a:ext>
            </a:extLst>
          </p:cNvPr>
          <p:cNvSpPr/>
          <p:nvPr/>
        </p:nvSpPr>
        <p:spPr>
          <a:xfrm>
            <a:off x="7777610" y="5772910"/>
            <a:ext cx="554023" cy="401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60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BC1EC-96B2-48C7-AE1A-D6FAC407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377" y="2924944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2. </a:t>
            </a:r>
            <a:b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темы исследования и постановка проблемы. Требования к оформлению исследования: основные положения</a:t>
            </a:r>
            <a:br>
              <a:rPr lang="ru-RU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611EA7-ECE0-4675-96BF-6F39FA6D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F5D60D-64CE-4A9C-A44D-4C6BD5D491D9}"/>
              </a:ext>
            </a:extLst>
          </p:cNvPr>
          <p:cNvSpPr/>
          <p:nvPr/>
        </p:nvSpPr>
        <p:spPr>
          <a:xfrm>
            <a:off x="7777610" y="5772910"/>
            <a:ext cx="554023" cy="401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768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Что дает исследовательская деятельность для учащихся?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9" y="2276872"/>
            <a:ext cx="7056784" cy="3603812"/>
          </a:xfrm>
        </p:spPr>
        <p:txBody>
          <a:bodyPr>
            <a:noAutofit/>
          </a:bodyPr>
          <a:lstStyle/>
          <a:p>
            <a:pPr algn="just"/>
            <a:r>
              <a:rPr lang="ru-RU" sz="2600" dirty="0">
                <a:solidFill>
                  <a:schemeClr val="tx2"/>
                </a:solidFill>
              </a:rPr>
              <a:t>обеспечить овладение методами научного познания;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сформировать мотивацию, потребность в такого рода деятельности;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дать полноценные, хорошо осознанные, оперативно и гибко используемые знания;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помочь развитию творческого мышления.</a:t>
            </a:r>
          </a:p>
          <a:p>
            <a:pPr algn="just"/>
            <a:endParaRPr lang="ru-RU" sz="2600" dirty="0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43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Что дает исследовательская деятельность для учителя?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9" y="2276872"/>
            <a:ext cx="7056784" cy="3603812"/>
          </a:xfrm>
        </p:spPr>
        <p:txBody>
          <a:bodyPr>
            <a:noAutofit/>
          </a:bodyPr>
          <a:lstStyle/>
          <a:p>
            <a:pPr algn="just"/>
            <a:r>
              <a:rPr lang="ru-RU" sz="2600" dirty="0">
                <a:solidFill>
                  <a:schemeClr val="tx2"/>
                </a:solidFill>
              </a:rPr>
              <a:t>приобрести собственный педагогического опыт;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решать дидактические цели изучения учебного предмета;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освоить активные методы преподавания учебного предмета;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повысить личный уровень профессиональной компетенции.</a:t>
            </a:r>
          </a:p>
          <a:p>
            <a:pPr marL="0" indent="0" algn="just">
              <a:buNone/>
            </a:pPr>
            <a:endParaRPr lang="ru-RU" sz="2600" dirty="0">
              <a:solidFill>
                <a:schemeClr val="tx2"/>
              </a:solidFill>
            </a:endParaRPr>
          </a:p>
          <a:p>
            <a:pPr algn="just"/>
            <a:endParaRPr lang="ru-RU" sz="2600" dirty="0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11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3" y="683721"/>
            <a:ext cx="7416823" cy="1202485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660033"/>
                </a:solidFill>
                <a:latin typeface="+mn-lt"/>
              </a:rPr>
              <a:t>Сравнение учебно-исследовательской и научно-исследовательской деятельности учащихся (по Н.И. Запрудскому)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211556"/>
              </p:ext>
            </p:extLst>
          </p:nvPr>
        </p:nvGraphicFramePr>
        <p:xfrm>
          <a:off x="899592" y="2018880"/>
          <a:ext cx="73448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УИД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Признаки</a:t>
                      </a:r>
                      <a:r>
                        <a:rPr lang="ru-RU" baseline="0" dirty="0">
                          <a:solidFill>
                            <a:schemeClr val="tx2"/>
                          </a:solidFill>
                        </a:rPr>
                        <a:t> для сравнения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НИД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Предполагает открытие, как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правило, лишь субъективно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новых знаний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Новизна темы</a:t>
                      </a:r>
                    </a:p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исследования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Предполагает открытие новых</a:t>
                      </a:r>
                      <a:r>
                        <a:rPr lang="ru-RU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знаний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Как правило, субъективны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Особенность</a:t>
                      </a:r>
                    </a:p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решаемых проблем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Преимущественно объективны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Получение субъективно нового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знания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Характер цели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Получение объективно нового</a:t>
                      </a:r>
                    </a:p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знания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99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7403" y="644673"/>
            <a:ext cx="7416823" cy="1202485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660033"/>
                </a:solidFill>
                <a:latin typeface="+mn-lt"/>
              </a:rPr>
              <a:t>Сравнение учебно-исследовательской и научно-исследовательской деятельности учащихся (по Н.И. Запрудскому)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914617"/>
              </p:ext>
            </p:extLst>
          </p:nvPr>
        </p:nvGraphicFramePr>
        <p:xfrm>
          <a:off x="955764" y="1847158"/>
          <a:ext cx="72009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УИД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Признаки</a:t>
                      </a:r>
                      <a:r>
                        <a:rPr lang="ru-RU" baseline="0" dirty="0">
                          <a:solidFill>
                            <a:schemeClr val="tx2"/>
                          </a:solidFill>
                        </a:rPr>
                        <a:t> для сравнения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НИД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Преимущественно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эмпирические (наблюдение и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опыт), а также работа с научной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и учебной литературой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Методы разрешения</a:t>
                      </a:r>
                    </a:p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Эмпирические (наблюдение,</a:t>
                      </a:r>
                    </a:p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эксперимент), теоретические</a:t>
                      </a:r>
                    </a:p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(анализ, моделирование,</a:t>
                      </a:r>
                    </a:p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проектирование, обобщение и др.).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Учащийся может сам выполнить</a:t>
                      </a:r>
                    </a:p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все этапы исследования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Степень</a:t>
                      </a:r>
                    </a:p>
                    <a:p>
                      <a:pPr algn="just"/>
                      <a:r>
                        <a:rPr lang="ru-RU" i="1" dirty="0">
                          <a:solidFill>
                            <a:schemeClr val="tx2"/>
                          </a:solidFill>
                        </a:rPr>
                        <a:t>самостоятельности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Как правило, самостоятельная</a:t>
                      </a:r>
                    </a:p>
                    <a:p>
                      <a:pPr algn="just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деятельность.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05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5" y="620689"/>
            <a:ext cx="7416823" cy="1202485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660033"/>
                </a:solidFill>
                <a:latin typeface="+mn-lt"/>
              </a:rPr>
              <a:t>Сравнение учебно-исследовательской и научно-исследовательской деятельности учащихся (по Н.И. Запрудскому)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952021"/>
              </p:ext>
            </p:extLst>
          </p:nvPr>
        </p:nvGraphicFramePr>
        <p:xfrm>
          <a:off x="899592" y="1844824"/>
          <a:ext cx="7324634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УИД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Признаки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для сравнения</a:t>
                      </a:r>
                      <a:endParaRPr lang="ru-RU" sz="17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НИД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Как правило, субъективны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Полученные</a:t>
                      </a:r>
                    </a:p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результаты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Объективны, доказательны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Реферативная работа, статья,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тезисы, выступление на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ученической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конференции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Формы</a:t>
                      </a:r>
                    </a:p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представления</a:t>
                      </a:r>
                    </a:p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результатов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Диссертация, статья, доклад,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тезисы, выступление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Происходит развитие личности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Личная значимость</a:t>
                      </a:r>
                    </a:p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исследовательской</a:t>
                      </a:r>
                    </a:p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деятельности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Происходит развитие личности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Иногда способствует развитию</a:t>
                      </a:r>
                      <a:r>
                        <a:rPr lang="ru-RU" sz="1700" baseline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науки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i="1" dirty="0">
                          <a:solidFill>
                            <a:schemeClr val="tx2"/>
                          </a:solidFill>
                        </a:rPr>
                        <a:t>Научное 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700" dirty="0">
                          <a:solidFill>
                            <a:schemeClr val="tx2"/>
                          </a:solidFill>
                        </a:rPr>
                        <a:t>Способствует развитию науки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23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11218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Что нужно, чтобы начать исследование?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1772816"/>
            <a:ext cx="7200800" cy="439248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b="1" dirty="0">
                <a:solidFill>
                  <a:schemeClr val="tx2"/>
                </a:solidFill>
              </a:rPr>
              <a:t>материально-техническое и учебно-методическое оснащение </a:t>
            </a:r>
            <a:r>
              <a:rPr lang="ru-RU" dirty="0">
                <a:solidFill>
                  <a:schemeClr val="tx2"/>
                </a:solidFill>
              </a:rPr>
              <a:t>(знания и умения педагога, базовые знания учащихся);</a:t>
            </a:r>
          </a:p>
          <a:p>
            <a:pPr algn="just"/>
            <a:r>
              <a:rPr lang="ru-RU" b="1" dirty="0">
                <a:solidFill>
                  <a:schemeClr val="tx2"/>
                </a:solidFill>
              </a:rPr>
              <a:t>кадровое обеспечение </a:t>
            </a:r>
            <a:r>
              <a:rPr lang="ru-RU" dirty="0">
                <a:solidFill>
                  <a:schemeClr val="tx2"/>
                </a:solidFill>
              </a:rPr>
              <a:t>(дополнительно привлекаемые участники, специалисты); </a:t>
            </a:r>
          </a:p>
          <a:p>
            <a:pPr algn="just"/>
            <a:r>
              <a:rPr lang="ru-RU" b="1" dirty="0">
                <a:solidFill>
                  <a:schemeClr val="tx2"/>
                </a:solidFill>
              </a:rPr>
              <a:t>информационные</a:t>
            </a:r>
            <a:r>
              <a:rPr lang="ru-RU" dirty="0">
                <a:solidFill>
                  <a:schemeClr val="tx2"/>
                </a:solidFill>
              </a:rPr>
              <a:t> (фонд и каталоги библиотеки, Интернет, CD-</a:t>
            </a:r>
            <a:r>
              <a:rPr lang="en-US" dirty="0">
                <a:solidFill>
                  <a:schemeClr val="tx2"/>
                </a:solidFill>
              </a:rPr>
              <a:t>rom</a:t>
            </a:r>
            <a:r>
              <a:rPr lang="ru-RU" dirty="0">
                <a:solidFill>
                  <a:schemeClr val="tx2"/>
                </a:solidFill>
              </a:rPr>
              <a:t>, аудио- и видео материалы и т.д.) и информационно-технологические ресурсы (компьютеры и др. техника с программным обеспечением);</a:t>
            </a:r>
          </a:p>
          <a:p>
            <a:pPr algn="just"/>
            <a:r>
              <a:rPr lang="ru-RU" b="1" dirty="0">
                <a:solidFill>
                  <a:schemeClr val="tx2"/>
                </a:solidFill>
              </a:rPr>
              <a:t>организационное обеспечение </a:t>
            </a:r>
            <a:r>
              <a:rPr lang="ru-RU" dirty="0">
                <a:solidFill>
                  <a:schemeClr val="tx2"/>
                </a:solidFill>
              </a:rPr>
              <a:t>(специальное расписание занятий, аудиторий, работы библиотеки, выхода в Интернет), отдельное от урочных занятий пространство (не ограничивающее свободную деятельность помещение с необходимыми ресурсами и оборудованием – медиатека).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02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660033"/>
                </a:solidFill>
                <a:latin typeface="+mn-lt"/>
              </a:rPr>
              <a:t>Требования к учебному исследованию </a:t>
            </a:r>
            <a:br>
              <a:rPr lang="ru-RU" sz="3200" b="1" dirty="0">
                <a:solidFill>
                  <a:srgbClr val="660033"/>
                </a:solidFill>
                <a:latin typeface="+mn-lt"/>
              </a:rPr>
            </a:br>
            <a:r>
              <a:rPr lang="ru-RU" sz="3200" b="1" dirty="0">
                <a:solidFill>
                  <a:srgbClr val="660033"/>
                </a:solidFill>
                <a:latin typeface="+mn-lt"/>
              </a:rPr>
              <a:t>(по Н.И. Дереклеевой)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276872"/>
            <a:ext cx="7200800" cy="3744416"/>
          </a:xfrm>
        </p:spPr>
        <p:txBody>
          <a:bodyPr>
            <a:noAutofit/>
          </a:bodyPr>
          <a:lstStyle/>
          <a:p>
            <a:pPr algn="just"/>
            <a:r>
              <a:rPr lang="ru-RU" sz="2000" dirty="0">
                <a:solidFill>
                  <a:schemeClr val="tx2"/>
                </a:solidFill>
              </a:rPr>
              <a:t>Четко сформулирована цель исследования.</a:t>
            </a:r>
          </a:p>
          <a:p>
            <a:pPr algn="just"/>
            <a:r>
              <a:rPr lang="ru-RU" sz="2000" dirty="0">
                <a:solidFill>
                  <a:schemeClr val="tx2"/>
                </a:solidFill>
              </a:rPr>
              <a:t>Выдвинута четкая и лаконичная гипотеза исследования.</a:t>
            </a:r>
          </a:p>
          <a:p>
            <a:pPr algn="just"/>
            <a:r>
              <a:rPr lang="ru-RU" sz="2000" dirty="0">
                <a:solidFill>
                  <a:schemeClr val="tx2"/>
                </a:solidFill>
              </a:rPr>
              <a:t>Определены задачи исследования, посредством решения которых цель может быть достигнута.</a:t>
            </a:r>
          </a:p>
          <a:p>
            <a:pPr algn="just"/>
            <a:r>
              <a:rPr lang="ru-RU" sz="2000" dirty="0">
                <a:solidFill>
                  <a:schemeClr val="tx2"/>
                </a:solidFill>
              </a:rPr>
              <a:t>Приведен полный обзор литературы по исследуемой проблеме.</a:t>
            </a:r>
          </a:p>
          <a:p>
            <a:pPr algn="just"/>
            <a:r>
              <a:rPr lang="ru-RU" sz="2000" dirty="0">
                <a:solidFill>
                  <a:schemeClr val="tx2"/>
                </a:solidFill>
              </a:rPr>
              <a:t>Описано, что и как делал исследователь для доказательства гипотезы (методика исследования, которая описывается в тексте).</a:t>
            </a:r>
          </a:p>
          <a:p>
            <a:pPr algn="just"/>
            <a:r>
              <a:rPr lang="ru-RU" sz="2000" dirty="0">
                <a:solidFill>
                  <a:schemeClr val="tx2"/>
                </a:solidFill>
              </a:rPr>
              <a:t>Представлены собственные данные, полученные в результате исследования.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20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660033"/>
                </a:solidFill>
                <a:latin typeface="+mn-lt"/>
              </a:rPr>
              <a:t>Требования к учебному исследованию </a:t>
            </a:r>
            <a:br>
              <a:rPr lang="ru-RU" sz="3200" b="1" dirty="0">
                <a:solidFill>
                  <a:srgbClr val="660033"/>
                </a:solidFill>
                <a:latin typeface="+mn-lt"/>
              </a:rPr>
            </a:br>
            <a:r>
              <a:rPr lang="ru-RU" sz="3200" b="1" dirty="0">
                <a:solidFill>
                  <a:srgbClr val="660033"/>
                </a:solidFill>
                <a:latin typeface="+mn-lt"/>
              </a:rPr>
              <a:t>(по Н.И. Дереклеевой)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276872"/>
            <a:ext cx="7200800" cy="3744416"/>
          </a:xfrm>
        </p:spPr>
        <p:txBody>
          <a:bodyPr>
            <a:noAutofit/>
          </a:bodyPr>
          <a:lstStyle/>
          <a:p>
            <a:pPr algn="just"/>
            <a:r>
              <a:rPr lang="ru-RU" sz="1800" dirty="0">
                <a:solidFill>
                  <a:schemeClr val="tx2"/>
                </a:solidFill>
              </a:rPr>
              <a:t>Описание исследования должно демонстрировать глубину знания автором (группой авторов) избранной области исследования.</a:t>
            </a:r>
          </a:p>
          <a:p>
            <a:pPr algn="just"/>
            <a:r>
              <a:rPr lang="ru-RU" sz="1800" dirty="0">
                <a:solidFill>
                  <a:schemeClr val="tx2"/>
                </a:solidFill>
              </a:rPr>
              <a:t>Исследование должно соответствовать установленным формальным критериям.</a:t>
            </a:r>
          </a:p>
          <a:p>
            <a:pPr algn="just"/>
            <a:r>
              <a:rPr lang="ru-RU" sz="1800" dirty="0">
                <a:solidFill>
                  <a:schemeClr val="tx2"/>
                </a:solidFill>
              </a:rPr>
              <a:t>Исследование должно демонстрировать наличие теоретических (практических) достижений автора.</a:t>
            </a:r>
          </a:p>
          <a:p>
            <a:pPr algn="just"/>
            <a:r>
              <a:rPr lang="ru-RU" sz="1800" dirty="0">
                <a:solidFill>
                  <a:schemeClr val="tx2"/>
                </a:solidFill>
              </a:rPr>
              <a:t>Проблема, затронутая в работе, должна быть оригинальной (или должно быть оригинальным её решение).</a:t>
            </a:r>
          </a:p>
          <a:p>
            <a:pPr algn="just"/>
            <a:r>
              <a:rPr lang="ru-RU" sz="1800" dirty="0">
                <a:solidFill>
                  <a:schemeClr val="tx2"/>
                </a:solidFill>
              </a:rPr>
              <a:t>Работа должна завершаться выводами, в которых излагаются результаты исследования, и защитой.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49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410D3-C6F8-483C-821E-EA221D95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23" y="817585"/>
            <a:ext cx="6965245" cy="811216"/>
          </a:xfrm>
        </p:spPr>
        <p:txBody>
          <a:bodyPr>
            <a:normAutofit fontScale="90000"/>
          </a:bodyPr>
          <a:lstStyle/>
          <a:p>
            <a:r>
              <a:rPr kumimoji="0" lang="ru-RU" sz="2900" b="1" i="0" u="none" strike="noStrike" kern="1200" cap="none" spc="0" normalizeH="0" baseline="0" noProof="0" dirty="0">
                <a:ln>
                  <a:noFill/>
                </a:ln>
                <a:solidFill>
                  <a:srgbClr val="1F212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Специфика учебного исследования в начальной школе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B1AE4A-9EB4-4A21-85CF-89099B96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896" y="1628801"/>
            <a:ext cx="7341329" cy="39277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b="1" dirty="0">
                <a:solidFill>
                  <a:srgbClr val="800000"/>
                </a:solidFill>
              </a:rPr>
              <a:t>Направленность деятельности не на результат, а на процесс!</a:t>
            </a:r>
          </a:p>
          <a:p>
            <a:pPr marL="0" indent="0" algn="just">
              <a:buNone/>
            </a:pPr>
            <a:r>
              <a:rPr lang="ru-RU" sz="1800" b="1" dirty="0">
                <a:solidFill>
                  <a:schemeClr val="tx2"/>
                </a:solidFill>
              </a:rPr>
              <a:t>Это может быть: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наблюдение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интервью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анкетирование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опрос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собеседование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тестирование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фотографирование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счет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измерение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</a:rPr>
              <a:t>сравнение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97B180-2037-478F-B40A-B2D0E9D9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7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CFA51-6C6C-46AC-BFCF-7FADD25B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23" y="817585"/>
            <a:ext cx="6965245" cy="52318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+mn-lt"/>
              </a:rPr>
              <a:t>Этапы исследования в начальной школе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D1489-0CA8-4300-9F11-74B07B300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606" y="1627094"/>
            <a:ext cx="7273620" cy="36038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Тема исследовательской работы. </a:t>
            </a:r>
            <a:r>
              <a:rPr lang="ru-RU" sz="1800" b="1" dirty="0">
                <a:solidFill>
                  <a:srgbClr val="800000"/>
                </a:solidFill>
              </a:rPr>
              <a:t>О чём?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Введение. Актуальность проблемы. </a:t>
            </a:r>
            <a:r>
              <a:rPr lang="ru-RU" sz="1800" b="1" dirty="0">
                <a:solidFill>
                  <a:srgbClr val="800000"/>
                </a:solidFill>
              </a:rPr>
              <a:t>В чем необходимость моей работы?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Цель. </a:t>
            </a:r>
            <a:r>
              <a:rPr lang="ru-RU" sz="1800" b="1" dirty="0">
                <a:solidFill>
                  <a:srgbClr val="800000"/>
                </a:solidFill>
              </a:rPr>
              <a:t>Зачем я хочу провести исследование?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Задачи исследования. </a:t>
            </a:r>
            <a:r>
              <a:rPr lang="ru-RU" sz="1800" b="1" dirty="0">
                <a:solidFill>
                  <a:srgbClr val="800000"/>
                </a:solidFill>
              </a:rPr>
              <a:t>Как я буду исследовать?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Объект исследования. </a:t>
            </a:r>
            <a:r>
              <a:rPr lang="ru-RU" sz="1800" b="1" dirty="0">
                <a:solidFill>
                  <a:srgbClr val="800000"/>
                </a:solidFill>
              </a:rPr>
              <a:t>Что я буду исследовать?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Предмет исследования. </a:t>
            </a:r>
            <a:r>
              <a:rPr lang="ru-RU" sz="1800" b="1" dirty="0">
                <a:solidFill>
                  <a:srgbClr val="800000"/>
                </a:solidFill>
              </a:rPr>
              <a:t>Что меня интересует в объекте исследования?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Гипотеза исследования. </a:t>
            </a:r>
            <a:r>
              <a:rPr lang="ru-RU" sz="1800" b="1" dirty="0">
                <a:solidFill>
                  <a:srgbClr val="800000"/>
                </a:solidFill>
              </a:rPr>
              <a:t>Что я предполагаю случится?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Дата и место проведения моего исследования. </a:t>
            </a:r>
            <a:r>
              <a:rPr lang="ru-RU" sz="1800" b="1" dirty="0">
                <a:solidFill>
                  <a:srgbClr val="800000"/>
                </a:solidFill>
              </a:rPr>
              <a:t>Когда и где?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Методика работы. </a:t>
            </a:r>
            <a:r>
              <a:rPr lang="ru-RU" sz="1800" b="1" dirty="0">
                <a:solidFill>
                  <a:srgbClr val="800000"/>
                </a:solidFill>
              </a:rPr>
              <a:t>Какие методы работы я выберу и почему?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Описание работы. Мои результаты исследования</a:t>
            </a:r>
            <a:r>
              <a:rPr lang="ru-RU" sz="1800" b="1" dirty="0">
                <a:solidFill>
                  <a:srgbClr val="800000"/>
                </a:solidFill>
              </a:rPr>
              <a:t>. Что обнаружили, что получилось?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Выводы. </a:t>
            </a:r>
            <a:r>
              <a:rPr lang="ru-RU" sz="1800" b="1" dirty="0">
                <a:solidFill>
                  <a:srgbClr val="800000"/>
                </a:solidFill>
              </a:rPr>
              <a:t>Подтвердилась или нет моя гипотеза?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Использованная литература.</a:t>
            </a:r>
          </a:p>
          <a:p>
            <a:pPr marL="0" indent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 Приложение.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882AFF-1D4C-4204-B63F-4082BE28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01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3E3C1-84AD-4C13-BA45-95689D5E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23" y="817584"/>
            <a:ext cx="4629105" cy="1202485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  <a:latin typeface="+mn-lt"/>
              </a:rPr>
              <a:t>Примерная тематика исследования в начальной школе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C310F0-4C7D-4969-8A19-0E7DDE24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03" y="2306049"/>
            <a:ext cx="6965244" cy="3603812"/>
          </a:xfrm>
        </p:spPr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А </a:t>
            </a:r>
            <a:r>
              <a:rPr lang="ru-RU" b="1" dirty="0">
                <a:solidFill>
                  <a:srgbClr val="00B050"/>
                </a:solidFill>
              </a:rPr>
              <a:t>прочно</a:t>
            </a:r>
            <a:r>
              <a:rPr lang="ru-RU" dirty="0">
                <a:solidFill>
                  <a:schemeClr val="tx2"/>
                </a:solidFill>
              </a:rPr>
              <a:t> ли </a:t>
            </a:r>
            <a:r>
              <a:rPr lang="ru-RU" b="1" dirty="0">
                <a:solidFill>
                  <a:srgbClr val="800000"/>
                </a:solidFill>
              </a:rPr>
              <a:t>куриное яйцо</a:t>
            </a:r>
            <a:r>
              <a:rPr lang="ru-RU" dirty="0">
                <a:solidFill>
                  <a:schemeClr val="tx2"/>
                </a:solidFill>
              </a:rPr>
              <a:t>?</a:t>
            </a:r>
          </a:p>
          <a:p>
            <a:r>
              <a:rPr lang="ru-RU" dirty="0">
                <a:solidFill>
                  <a:schemeClr val="tx2"/>
                </a:solidFill>
              </a:rPr>
              <a:t>Влияет ли </a:t>
            </a:r>
            <a:r>
              <a:rPr lang="ru-RU" b="1" dirty="0">
                <a:solidFill>
                  <a:srgbClr val="00B050"/>
                </a:solidFill>
              </a:rPr>
              <a:t>выбор</a:t>
            </a:r>
            <a:r>
              <a:rPr lang="ru-RU" dirty="0">
                <a:solidFill>
                  <a:schemeClr val="tx2"/>
                </a:solidFill>
              </a:rPr>
              <a:t> </a:t>
            </a:r>
            <a:r>
              <a:rPr lang="ru-RU" b="1" dirty="0">
                <a:solidFill>
                  <a:srgbClr val="00B050"/>
                </a:solidFill>
              </a:rPr>
              <a:t>зубной пасты </a:t>
            </a:r>
            <a:r>
              <a:rPr lang="ru-RU" dirty="0">
                <a:solidFill>
                  <a:schemeClr val="tx2"/>
                </a:solidFill>
              </a:rPr>
              <a:t>на </a:t>
            </a:r>
            <a:r>
              <a:rPr lang="ru-RU" b="1" dirty="0">
                <a:solidFill>
                  <a:srgbClr val="800000"/>
                </a:solidFill>
              </a:rPr>
              <a:t>прочность зубов</a:t>
            </a:r>
            <a:r>
              <a:rPr lang="ru-RU" dirty="0">
                <a:solidFill>
                  <a:schemeClr val="tx2"/>
                </a:solidFill>
              </a:rPr>
              <a:t>?</a:t>
            </a:r>
          </a:p>
          <a:p>
            <a:r>
              <a:rPr lang="ru-RU" dirty="0">
                <a:solidFill>
                  <a:schemeClr val="tx2"/>
                </a:solidFill>
              </a:rPr>
              <a:t>Искусство </a:t>
            </a:r>
            <a:r>
              <a:rPr lang="ru-RU" b="1" dirty="0">
                <a:solidFill>
                  <a:srgbClr val="00B050"/>
                </a:solidFill>
              </a:rPr>
              <a:t>создания</a:t>
            </a:r>
            <a:r>
              <a:rPr lang="ru-RU" dirty="0">
                <a:solidFill>
                  <a:schemeClr val="tx2"/>
                </a:solidFill>
              </a:rPr>
              <a:t> </a:t>
            </a:r>
            <a:r>
              <a:rPr lang="ru-RU" b="1" dirty="0">
                <a:solidFill>
                  <a:srgbClr val="800000"/>
                </a:solidFill>
              </a:rPr>
              <a:t>книги</a:t>
            </a:r>
          </a:p>
          <a:p>
            <a:r>
              <a:rPr lang="ru-RU" b="1" dirty="0">
                <a:solidFill>
                  <a:srgbClr val="800000"/>
                </a:solidFill>
              </a:rPr>
              <a:t>Компьютерные игры </a:t>
            </a:r>
            <a:r>
              <a:rPr lang="ru-RU" dirty="0">
                <a:solidFill>
                  <a:schemeClr val="tx2"/>
                </a:solidFill>
              </a:rPr>
              <a:t>– </a:t>
            </a:r>
            <a:r>
              <a:rPr lang="ru-RU" b="1" dirty="0">
                <a:solidFill>
                  <a:srgbClr val="00B050"/>
                </a:solidFill>
              </a:rPr>
              <a:t>хорошо это или плохо</a:t>
            </a:r>
            <a:r>
              <a:rPr lang="ru-RU" dirty="0">
                <a:solidFill>
                  <a:schemeClr val="tx2"/>
                </a:solidFill>
              </a:rPr>
              <a:t>?</a:t>
            </a:r>
          </a:p>
          <a:p>
            <a:pPr marL="0" indent="0">
              <a:buNone/>
            </a:pPr>
            <a:r>
              <a:rPr lang="ru-RU" dirty="0">
                <a:solidFill>
                  <a:schemeClr val="tx2"/>
                </a:solidFill>
              </a:rPr>
              <a:t>* </a:t>
            </a:r>
            <a:r>
              <a:rPr lang="ru-RU" b="1" dirty="0">
                <a:solidFill>
                  <a:srgbClr val="800000"/>
                </a:solidFill>
              </a:rPr>
              <a:t>Красным цветом </a:t>
            </a:r>
            <a:r>
              <a:rPr lang="ru-RU" dirty="0">
                <a:solidFill>
                  <a:schemeClr val="tx2"/>
                </a:solidFill>
              </a:rPr>
              <a:t>– объект исследования;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B050"/>
                </a:solidFill>
              </a:rPr>
              <a:t>Зеленым </a:t>
            </a:r>
            <a:r>
              <a:rPr lang="ru-RU" dirty="0">
                <a:solidFill>
                  <a:schemeClr val="tx2"/>
                </a:solidFill>
              </a:rPr>
              <a:t>– предмет исследования.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5C6C2A-8850-4F3C-9C79-3F624079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6BACFD-F03E-4C9F-A3DE-6DF4B0062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015" y="948139"/>
            <a:ext cx="25146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74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Этапы исследовательской деятельности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119258"/>
            <a:ext cx="7200800" cy="397403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b="1" dirty="0">
                <a:solidFill>
                  <a:schemeClr val="tx2"/>
                </a:solidFill>
              </a:rPr>
              <a:t>Этап 1. Подготовка к проведению учебного исследования: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определение объектной области, объекта, предмета исследования;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выбор, формулировка и обоснование темы исследования;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определение цели и задач исследования;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определение гипотезы;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составление плана исследовательской работы;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/>
                </a:solidFill>
              </a:rPr>
              <a:t>определение методов исследования.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146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7672">
            <a:off x="5914136" y="3094783"/>
            <a:ext cx="2161269" cy="226772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7272807" cy="739210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660033"/>
                </a:solidFill>
                <a:latin typeface="+mn-lt"/>
              </a:rPr>
              <a:t>Объектная область, проблема, объект, предмет 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1556793"/>
            <a:ext cx="7224418" cy="93610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000" b="1" dirty="0">
                <a:solidFill>
                  <a:schemeClr val="tx2"/>
                </a:solidFill>
              </a:rPr>
              <a:t>Объектная область исследования</a:t>
            </a:r>
            <a:r>
              <a:rPr lang="ru-RU" sz="2000" dirty="0">
                <a:solidFill>
                  <a:schemeClr val="tx2"/>
                </a:solidFill>
              </a:rPr>
              <a:t> – сфера науки и практики, в которой находится объект исследования.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99593" y="2181666"/>
            <a:ext cx="48245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buClr>
                <a:srgbClr val="CC8E60"/>
              </a:buClr>
              <a:buSzPct val="85000"/>
              <a:buFont typeface="Brush Script MT" pitchFamily="66" charset="0"/>
              <a:buChar char="O"/>
            </a:pPr>
            <a:r>
              <a:rPr lang="ru-RU" sz="2000" b="1" dirty="0">
                <a:solidFill>
                  <a:srgbClr val="1F2123"/>
                </a:solidFill>
              </a:rPr>
              <a:t>Проблема исследования </a:t>
            </a:r>
            <a:r>
              <a:rPr lang="ru-RU" sz="2000" dirty="0">
                <a:solidFill>
                  <a:srgbClr val="1F2123"/>
                </a:solidFill>
              </a:rPr>
              <a:t>– «открыть», «доказать», «изучить с новых позиций».</a:t>
            </a:r>
          </a:p>
          <a:p>
            <a:pPr marL="274320" lvl="0" indent="-274320" algn="just">
              <a:buClr>
                <a:srgbClr val="CC8E60"/>
              </a:buClr>
              <a:buSzPct val="85000"/>
              <a:buFont typeface="Brush Script MT" pitchFamily="66" charset="0"/>
              <a:buChar char="O"/>
            </a:pPr>
            <a:r>
              <a:rPr lang="ru-RU" sz="2000" b="1" dirty="0">
                <a:solidFill>
                  <a:srgbClr val="1F2123"/>
                </a:solidFill>
              </a:rPr>
              <a:t>Объект исследования </a:t>
            </a:r>
            <a:r>
              <a:rPr lang="ru-RU" sz="2000" dirty="0">
                <a:solidFill>
                  <a:srgbClr val="1F2123"/>
                </a:solidFill>
              </a:rPr>
              <a:t>–</a:t>
            </a:r>
            <a:r>
              <a:rPr lang="ru-RU" sz="2000" b="1" dirty="0">
                <a:solidFill>
                  <a:srgbClr val="1F2123"/>
                </a:solidFill>
              </a:rPr>
              <a:t> </a:t>
            </a:r>
            <a:r>
              <a:rPr lang="ru-RU" sz="2000" dirty="0">
                <a:solidFill>
                  <a:srgbClr val="1F2123"/>
                </a:solidFill>
              </a:rPr>
              <a:t>это определенный процесс или явление, порождающее проблемную ситуацию. </a:t>
            </a:r>
          </a:p>
          <a:p>
            <a:pPr marL="274320" lvl="0" indent="-274320" algn="just">
              <a:buClr>
                <a:srgbClr val="CC8E60"/>
              </a:buClr>
              <a:buSzPct val="85000"/>
              <a:buFont typeface="Brush Script MT" pitchFamily="66" charset="0"/>
              <a:buChar char="O"/>
            </a:pPr>
            <a:r>
              <a:rPr lang="ru-RU" sz="2000" b="1" dirty="0">
                <a:solidFill>
                  <a:srgbClr val="1F2123"/>
                </a:solidFill>
              </a:rPr>
              <a:t>Предмет исследования </a:t>
            </a:r>
            <a:r>
              <a:rPr lang="ru-RU" sz="2000" dirty="0">
                <a:solidFill>
                  <a:srgbClr val="1F2123"/>
                </a:solidFill>
              </a:rPr>
              <a:t>более  конкретен и включает только те связи и отношения, которые подлежат непосредственному изучению в данной работе.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413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7272807" cy="739210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660033"/>
                </a:solidFill>
                <a:latin typeface="+mn-lt"/>
              </a:rPr>
              <a:t>Тема исследования  </a:t>
            </a:r>
            <a:br>
              <a:rPr lang="ru-RU" sz="2800" b="1" dirty="0">
                <a:solidFill>
                  <a:srgbClr val="660033"/>
                </a:solidFill>
                <a:latin typeface="+mn-lt"/>
              </a:rPr>
            </a:br>
            <a:r>
              <a:rPr lang="ru-RU" sz="2800" b="1" dirty="0">
                <a:solidFill>
                  <a:srgbClr val="660033"/>
                </a:solidFill>
                <a:latin typeface="+mn-lt"/>
              </a:rPr>
              <a:t>(по А.И. Савенкову)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1556792"/>
            <a:ext cx="7344816" cy="432047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актуальной (затрагивать наиболее дискуссионные аспекты рассматриваемой проблемы);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интересной ученику, она должна его увлечь;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выполнима, решение её должно принести реальную пользу участникам исследования;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оригинальной, в ней должен быть элемент неожиданности, необычности;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такой, чтобы работа была выполнена качественно, но относительно быстро;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быть доступна (ученик должен понимать то, что он пытается проанализировать и описать);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должна вызывать интерес не только у ученика, но и у его руководителя;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работа над темой должна быть обеспечена методическими ресурсами.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16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660033"/>
                </a:solidFill>
                <a:latin typeface="+mn-lt"/>
              </a:rPr>
              <a:t>Актуальность выбранной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2119258"/>
            <a:ext cx="7128792" cy="3830023"/>
          </a:xfrm>
        </p:spPr>
        <p:txBody>
          <a:bodyPr>
            <a:normAutofit/>
          </a:bodyPr>
          <a:lstStyle/>
          <a:p>
            <a:pPr algn="just"/>
            <a:r>
              <a:rPr lang="ru-RU" sz="2600" dirty="0">
                <a:solidFill>
                  <a:schemeClr val="tx2"/>
                </a:solidFill>
              </a:rPr>
              <a:t>методически обосновать важность выбранной темы;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объяснить ранее проведенные в данной области исследования в Беларуси, России и за рубежом;</a:t>
            </a:r>
          </a:p>
          <a:p>
            <a:pPr algn="just"/>
            <a:r>
              <a:rPr lang="ru-RU" sz="2600" dirty="0">
                <a:solidFill>
                  <a:schemeClr val="tx2"/>
                </a:solidFill>
              </a:rPr>
              <a:t>найти противоречия. Например, наличие явления в местном масштабе и слабой разработанностью темы в отечественной науке.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8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660033"/>
                </a:solidFill>
                <a:latin typeface="+mn-lt"/>
              </a:rPr>
              <a:t>Определение цели и задач 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119258"/>
            <a:ext cx="7200800" cy="3974039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dirty="0">
                <a:solidFill>
                  <a:schemeClr val="tx2"/>
                </a:solidFill>
              </a:rPr>
              <a:t>Цель исследования: </a:t>
            </a:r>
            <a:r>
              <a:rPr lang="ru-RU" dirty="0">
                <a:solidFill>
                  <a:schemeClr val="tx2"/>
                </a:solidFill>
              </a:rPr>
              <a:t>«выяснить», «сформулировать», «установить», «обосновать», «провести», «выявить» и т.д. </a:t>
            </a:r>
          </a:p>
          <a:p>
            <a:pPr algn="just"/>
            <a:r>
              <a:rPr lang="ru-RU" b="1" dirty="0">
                <a:solidFill>
                  <a:schemeClr val="tx2"/>
                </a:solidFill>
              </a:rPr>
              <a:t>Задачи</a:t>
            </a:r>
            <a:r>
              <a:rPr lang="ru-RU" dirty="0">
                <a:solidFill>
                  <a:schemeClr val="tx2"/>
                </a:solidFill>
              </a:rPr>
              <a:t> – решение цели разными способами: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/>
                </a:solidFill>
              </a:rPr>
              <a:t>теоретические задачи (изучение литературы, периодической печати);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/>
                </a:solidFill>
              </a:rPr>
              <a:t>задачи практикума (проведение эмпирического или лабораторного исследования);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/>
                </a:solidFill>
              </a:rPr>
              <a:t>научно-методические задачи (разработка программы, рекомендаций и т.д.).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660033"/>
                </a:solidFill>
                <a:latin typeface="+mn-lt"/>
              </a:rPr>
              <a:t>Выдвижение гипотезы (научного предположения)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119258"/>
            <a:ext cx="7200800" cy="3974039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dirty="0">
                <a:solidFill>
                  <a:schemeClr val="tx2"/>
                </a:solidFill>
              </a:rPr>
              <a:t>описательные</a:t>
            </a:r>
            <a:r>
              <a:rPr lang="ru-RU" dirty="0">
                <a:solidFill>
                  <a:schemeClr val="tx2"/>
                </a:solidFill>
              </a:rPr>
              <a:t> (предположение о структуре объекта или процесса; о форме связей между элементами изучаемого объекта);</a:t>
            </a:r>
          </a:p>
          <a:p>
            <a:pPr algn="just"/>
            <a:r>
              <a:rPr lang="ru-RU" b="1" dirty="0">
                <a:solidFill>
                  <a:schemeClr val="tx2"/>
                </a:solidFill>
              </a:rPr>
              <a:t>объяснительные</a:t>
            </a:r>
            <a:r>
              <a:rPr lang="ru-RU" dirty="0">
                <a:solidFill>
                  <a:schemeClr val="tx2"/>
                </a:solidFill>
              </a:rPr>
              <a:t> (предположение о причинно-следственных связях в изучаемом объекте, которое требуется экспериментально проверить).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chemeClr val="tx2"/>
                </a:solidFill>
              </a:rPr>
              <a:t>Гипотеза</a:t>
            </a:r>
            <a:r>
              <a:rPr lang="ru-RU" dirty="0">
                <a:solidFill>
                  <a:schemeClr val="tx2"/>
                </a:solidFill>
              </a:rPr>
              <a:t> записывается с помощью следующих клише: можно предположить …; если …, то; предполагается, что …; допустим …; возможно…; при условии, что… и т.д.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432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548682"/>
            <a:ext cx="7128792" cy="120248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Составление плана исследовательской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1700808"/>
            <a:ext cx="7200800" cy="4032448"/>
          </a:xfrm>
        </p:spPr>
        <p:txBody>
          <a:bodyPr>
            <a:noAutofit/>
          </a:bodyPr>
          <a:lstStyle/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Введение	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1 Обзор литературы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1.1     Историческая справка «Прошлое Хатыни»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1.2 Реконструкция Государственного мемориального комплекса «Хатынь». Филиалы комплекса	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spc="-20" dirty="0">
                <a:solidFill>
                  <a:schemeClr val="tx2"/>
                </a:solidFill>
                <a:ea typeface="Times New Roman"/>
              </a:rPr>
              <a:t>2</a:t>
            </a:r>
            <a:r>
              <a:rPr lang="ru-RU" sz="2000" dirty="0">
                <a:solidFill>
                  <a:schemeClr val="tx2"/>
                </a:solidFill>
                <a:ea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tx2"/>
                </a:solidFill>
                <a:ea typeface="Times New Roman"/>
              </a:rPr>
              <a:t>Практическое изучение использования знаний о Мемориальном комплексе «Хатынь»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2.1  Результаты интервью и анкетирования «Что я знаю о Хатыни?»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2.2 	  Разработка виртуальной экскурсии «12 шагов по Хатыни»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Times New Roman"/>
              </a:rPr>
              <a:t>Заключение</a:t>
            </a:r>
          </a:p>
          <a:p>
            <a:pPr marL="0" indent="0" algn="just">
              <a:spcAft>
                <a:spcPts val="0"/>
              </a:spcAft>
              <a:buNone/>
              <a:tabLst>
                <a:tab pos="6113780" algn="r"/>
              </a:tabLst>
            </a:pPr>
            <a:r>
              <a:rPr lang="ru-RU" sz="2000" dirty="0">
                <a:solidFill>
                  <a:schemeClr val="tx2"/>
                </a:solidFill>
                <a:ea typeface="Calibri"/>
                <a:cs typeface="Times New Roman"/>
              </a:rPr>
              <a:t>Список использованных источников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388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7" y="620689"/>
            <a:ext cx="6965245" cy="120248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Определение методов 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1844824"/>
            <a:ext cx="7200800" cy="4320480"/>
          </a:xfrm>
        </p:spPr>
        <p:txBody>
          <a:bodyPr>
            <a:noAutofit/>
          </a:bodyPr>
          <a:lstStyle/>
          <a:p>
            <a:pPr algn="just"/>
            <a:r>
              <a:rPr lang="ru-RU" sz="2300" b="1" dirty="0">
                <a:solidFill>
                  <a:schemeClr val="tx2"/>
                </a:solidFill>
              </a:rPr>
              <a:t>Сбор информации. </a:t>
            </a:r>
            <a:r>
              <a:rPr lang="ru-RU" sz="2300" i="1" dirty="0">
                <a:solidFill>
                  <a:schemeClr val="tx2"/>
                </a:solidFill>
              </a:rPr>
              <a:t>Теоретические методы </a:t>
            </a:r>
            <a:r>
              <a:rPr lang="ru-RU" sz="2300" dirty="0">
                <a:solidFill>
                  <a:schemeClr val="tx2"/>
                </a:solidFill>
              </a:rPr>
              <a:t>применяются при изучении письменных источников и литературы по теме (анализ, синтез, моделирование и др.). </a:t>
            </a:r>
            <a:r>
              <a:rPr lang="ru-RU" sz="2300" i="1" dirty="0">
                <a:solidFill>
                  <a:schemeClr val="tx2"/>
                </a:solidFill>
              </a:rPr>
              <a:t>Практические (эмпирические) методы</a:t>
            </a:r>
            <a:r>
              <a:rPr lang="ru-RU" sz="2300" dirty="0">
                <a:solidFill>
                  <a:schemeClr val="tx2"/>
                </a:solidFill>
              </a:rPr>
              <a:t> исследования связаны с действиями исследователя, направленными на проведение практики (наблюдение, интервью, беседа, видеосъемка и др.).</a:t>
            </a:r>
          </a:p>
          <a:p>
            <a:pPr algn="just"/>
            <a:r>
              <a:rPr lang="ru-RU" sz="2300" b="1" dirty="0">
                <a:solidFill>
                  <a:schemeClr val="tx2"/>
                </a:solidFill>
              </a:rPr>
              <a:t>Обработки информации. </a:t>
            </a:r>
            <a:r>
              <a:rPr lang="ru-RU" sz="2300" dirty="0">
                <a:solidFill>
                  <a:schemeClr val="tx2"/>
                </a:solidFill>
              </a:rPr>
              <a:t>Они делятся на </a:t>
            </a:r>
            <a:r>
              <a:rPr lang="ru-RU" sz="2300" i="1" dirty="0">
                <a:solidFill>
                  <a:schemeClr val="tx2"/>
                </a:solidFill>
              </a:rPr>
              <a:t>количественные</a:t>
            </a:r>
            <a:r>
              <a:rPr lang="ru-RU" sz="2300" dirty="0">
                <a:solidFill>
                  <a:schemeClr val="tx2"/>
                </a:solidFill>
              </a:rPr>
              <a:t> (математические, статистические и др.) и </a:t>
            </a:r>
            <a:r>
              <a:rPr lang="ru-RU" sz="2300" i="1" dirty="0">
                <a:solidFill>
                  <a:schemeClr val="tx2"/>
                </a:solidFill>
              </a:rPr>
              <a:t>качественные</a:t>
            </a:r>
            <a:r>
              <a:rPr lang="ru-RU" sz="2300" dirty="0">
                <a:solidFill>
                  <a:schemeClr val="tx2"/>
                </a:solidFill>
              </a:rPr>
              <a:t> (содержательные).</a:t>
            </a:r>
          </a:p>
          <a:p>
            <a:pPr algn="just"/>
            <a:endParaRPr lang="ru-RU" sz="2300" dirty="0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3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Этапы исследовательской деятельности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492896"/>
            <a:ext cx="7200800" cy="295232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800" b="1" dirty="0">
                <a:solidFill>
                  <a:schemeClr val="tx2"/>
                </a:solidFill>
              </a:rPr>
              <a:t>Этап 2. Проведение исследования: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анализ литературы;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составлении списка литературы;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работа с терминами;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проведение интервью, бесед, наблюдение, сравнение и т.д.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553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7" y="620688"/>
            <a:ext cx="6965245" cy="595194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660033"/>
                </a:solidFill>
                <a:latin typeface="+mn-lt"/>
              </a:rPr>
              <a:t>Работа с литературой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1412776"/>
            <a:ext cx="7272808" cy="4104455"/>
          </a:xfrm>
        </p:spPr>
        <p:txBody>
          <a:bodyPr>
            <a:noAutofit/>
          </a:bodyPr>
          <a:lstStyle/>
          <a:p>
            <a:pPr algn="just"/>
            <a:r>
              <a:rPr lang="ru-RU" sz="2250" b="1" dirty="0">
                <a:solidFill>
                  <a:schemeClr val="tx2"/>
                </a:solidFill>
              </a:rPr>
              <a:t>просмотровое чтение </a:t>
            </a:r>
            <a:r>
              <a:rPr lang="ru-RU" sz="2250" dirty="0">
                <a:solidFill>
                  <a:schemeClr val="tx2"/>
                </a:solidFill>
              </a:rPr>
              <a:t>– знакомство с общим содержанием книги;</a:t>
            </a:r>
          </a:p>
          <a:p>
            <a:pPr algn="just"/>
            <a:r>
              <a:rPr lang="ru-RU" sz="2250" b="1" dirty="0">
                <a:solidFill>
                  <a:schemeClr val="tx2"/>
                </a:solidFill>
              </a:rPr>
              <a:t>ознакомительное (выборочное) чтение </a:t>
            </a:r>
            <a:r>
              <a:rPr lang="ru-RU" sz="2250" dirty="0">
                <a:solidFill>
                  <a:schemeClr val="tx2"/>
                </a:solidFill>
              </a:rPr>
              <a:t>поможет в поиске ответа на определенные вопросы в нескольких источниках информации, в сравнении и сопоставлении найденной информации, а также в выработке собственной точки зрения;</a:t>
            </a:r>
          </a:p>
          <a:p>
            <a:pPr algn="just"/>
            <a:r>
              <a:rPr lang="ru-RU" sz="2250" b="1" dirty="0">
                <a:solidFill>
                  <a:schemeClr val="tx2"/>
                </a:solidFill>
              </a:rPr>
              <a:t>изучающее чтение </a:t>
            </a:r>
            <a:r>
              <a:rPr lang="ru-RU" sz="2250" dirty="0">
                <a:solidFill>
                  <a:schemeClr val="tx2"/>
                </a:solidFill>
              </a:rPr>
              <a:t>– активный вид подробного, внимательного обдуманного чтения. Его цель –получение необходимой информации, понимание логики доказательств, поиск ответов на поставленные вопросы.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083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Этапы исследовательской деятельности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492896"/>
            <a:ext cx="7200800" cy="295232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sz="2800" b="1" dirty="0">
                <a:solidFill>
                  <a:schemeClr val="tx2"/>
                </a:solidFill>
              </a:rPr>
              <a:t>Этап 3. Оформление результатов исследования: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компоновка подготовленных текстов по главам в соответствии со структурой работы;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вычитка и редактирование текста;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формулировка выводов;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сопоставление списка литературы с текстом.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826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5721" y="852735"/>
            <a:ext cx="6965245" cy="95523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660033"/>
                </a:solidFill>
                <a:latin typeface="+mn-lt"/>
              </a:rPr>
              <a:t>Структура отчета</a:t>
            </a:r>
            <a:br>
              <a:rPr lang="ru-RU" sz="3200" b="1" dirty="0">
                <a:solidFill>
                  <a:srgbClr val="660033"/>
                </a:solidFill>
                <a:latin typeface="+mn-lt"/>
              </a:rPr>
            </a:br>
            <a:r>
              <a:rPr lang="ru-RU" sz="3200" b="1" dirty="0">
                <a:solidFill>
                  <a:srgbClr val="660033"/>
                </a:solidFill>
                <a:latin typeface="+mn-lt"/>
              </a:rPr>
              <a:t>об учебном исследовании</a:t>
            </a:r>
            <a:br>
              <a:rPr lang="ru-RU" sz="3200" b="1" dirty="0">
                <a:solidFill>
                  <a:srgbClr val="660033"/>
                </a:solidFill>
                <a:latin typeface="+mn-lt"/>
              </a:rPr>
            </a:br>
            <a:r>
              <a:rPr lang="ru-RU" sz="3200" b="1" dirty="0">
                <a:solidFill>
                  <a:srgbClr val="660033"/>
                </a:solidFill>
                <a:latin typeface="+mn-lt"/>
              </a:rPr>
              <a:t>(по Н.И. Запрудскому)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2348880"/>
            <a:ext cx="7056784" cy="3672409"/>
          </a:xfrm>
        </p:spPr>
        <p:txBody>
          <a:bodyPr>
            <a:normAutofit/>
          </a:bodyPr>
          <a:lstStyle/>
          <a:p>
            <a:r>
              <a:rPr lang="ru-RU" sz="2600" dirty="0">
                <a:solidFill>
                  <a:schemeClr val="tx2"/>
                </a:solidFill>
              </a:rPr>
              <a:t>Титульный лист.</a:t>
            </a:r>
          </a:p>
          <a:p>
            <a:r>
              <a:rPr lang="ru-RU" sz="2600" dirty="0">
                <a:solidFill>
                  <a:schemeClr val="tx2"/>
                </a:solidFill>
              </a:rPr>
              <a:t>Тезисы, резюме.</a:t>
            </a:r>
          </a:p>
          <a:p>
            <a:r>
              <a:rPr lang="ru-RU" sz="2600" dirty="0">
                <a:solidFill>
                  <a:schemeClr val="tx2"/>
                </a:solidFill>
              </a:rPr>
              <a:t>Оглавление.</a:t>
            </a:r>
          </a:p>
          <a:p>
            <a:r>
              <a:rPr lang="ru-RU" sz="2600" dirty="0">
                <a:solidFill>
                  <a:schemeClr val="tx2"/>
                </a:solidFill>
              </a:rPr>
              <a:t>Основная часть.</a:t>
            </a:r>
          </a:p>
          <a:p>
            <a:r>
              <a:rPr lang="ru-RU" sz="2600" dirty="0">
                <a:solidFill>
                  <a:schemeClr val="tx2"/>
                </a:solidFill>
              </a:rPr>
              <a:t>Заключение.</a:t>
            </a:r>
          </a:p>
          <a:p>
            <a:r>
              <a:rPr lang="ru-RU" sz="2600" dirty="0">
                <a:solidFill>
                  <a:schemeClr val="tx2"/>
                </a:solidFill>
              </a:rPr>
              <a:t>Список использованных источников.</a:t>
            </a:r>
          </a:p>
          <a:p>
            <a:r>
              <a:rPr lang="ru-RU" sz="2600" dirty="0">
                <a:solidFill>
                  <a:schemeClr val="tx2"/>
                </a:solidFill>
              </a:rPr>
              <a:t>Приложения.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041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+mn-lt"/>
              </a:rPr>
              <a:t>Этапы исследовательской деятельности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2132856"/>
            <a:ext cx="7200800" cy="396044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800" b="1" dirty="0">
                <a:solidFill>
                  <a:schemeClr val="tx2"/>
                </a:solidFill>
              </a:rPr>
              <a:t>Этап 4. Защита результатов исследования: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Подготовка к презентации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Структурирование выступления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Составление записи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Использование вспомогательных средств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Подача материала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chemeClr val="tx2"/>
                </a:solidFill>
              </a:rPr>
              <a:t>Резюме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703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9" y="692696"/>
            <a:ext cx="6965245" cy="451177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660033"/>
                </a:solidFill>
                <a:latin typeface="+mn-lt"/>
              </a:rPr>
              <a:t>Типичные ошибки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1196752"/>
            <a:ext cx="7344816" cy="4464496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Неправильная формулировка темы или названия работы;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Неточное определение предмета и цели исследования;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Постановка эксперимента (отсутствие контрольной части);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Отсутствие статистической обработки полученных результатов;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Неверная интерпретация полученных результатов;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Несоответствие темы, цели и выводов исследования;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Неправильное оформление исследования;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Некорректный язык изложения;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Неточность структурированности работы;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Перегруженность терминологией;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Неиспользование ссылочного аппарата при цитировании первоисточников; </a:t>
            </a:r>
          </a:p>
          <a:p>
            <a:pPr marL="0" algn="just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Недопустимость использования литературного, публицистического, официально-делового, разговорного стилей изложения материала и личностного подхода к подаче материала;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Несоответствие формальным требованиям конкурса;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Неправильное оформление презентации; </a:t>
            </a:r>
          </a:p>
          <a:p>
            <a:pPr marL="0">
              <a:spcBef>
                <a:spcPts val="0"/>
              </a:spcBef>
            </a:pPr>
            <a:r>
              <a:rPr lang="ru-RU" sz="1800" dirty="0">
                <a:solidFill>
                  <a:schemeClr val="tx2"/>
                </a:solidFill>
              </a:rPr>
              <a:t>Чтение содержания, а не докладывание.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524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202BF-E141-4A35-B553-FC2CB658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377" y="2492896"/>
            <a:ext cx="6965245" cy="1202485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3.</a:t>
            </a:r>
            <a:b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результатов исследования (примеры «провала» и «успешности»)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D8CA64-972E-4392-90CA-629DB43D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29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B4E965-2BC5-408A-A86B-85116760C053}"/>
              </a:ext>
            </a:extLst>
          </p:cNvPr>
          <p:cNvSpPr/>
          <p:nvPr/>
        </p:nvSpPr>
        <p:spPr>
          <a:xfrm>
            <a:off x="7777610" y="5772910"/>
            <a:ext cx="554023" cy="401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52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59A54-7AFB-4236-ADDB-33E1D8A3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023" y="817585"/>
            <a:ext cx="6965245" cy="365126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причин неудачных выступлений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7C1B1-9F6E-4732-9838-0B63D13C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774" y="1412775"/>
            <a:ext cx="7304452" cy="4627639"/>
          </a:xfrm>
        </p:spPr>
        <p:txBody>
          <a:bodyPr>
            <a:noAutofit/>
          </a:bodyPr>
          <a:lstStyle/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Казаться вместо быть.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99% выступлений не удаются по причине того, что человек хочет казаться умнее, чем есть на самом деле. От этого он начинает говорить несвойственными фразами, речь замедляется, мысли затормаживаются и длительность выступления увеличивается.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Чтение.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Неудачным выступление становится автоматически, если спикер начинает читать свой доклад, а не рассказывать. Смотрит в бумажку, на публику не обращает внимания, теряет контакт со зрительным залом.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Ненаглядное пособие.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презентация не имеет ярких картинок, а сплошь испещрена мелким шрифтом на мрачном фоне, а также каждый слайд переполнен информацией – внимание слушателя будет направлено куда угодно, только не на экран.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65A2E6-9CEB-4F64-AD15-5371D745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DCD5A8-0E5B-4E6A-8911-FF1B3020E8AD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1F2123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1F2123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877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59A54-7AFB-4236-ADDB-33E1D8A3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377" y="683122"/>
            <a:ext cx="6965245" cy="365126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причин неудачных выступлений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7C1B1-9F6E-4732-9838-0B63D13C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774" y="1182113"/>
            <a:ext cx="7304452" cy="4627639"/>
          </a:xfrm>
        </p:spPr>
        <p:txBody>
          <a:bodyPr>
            <a:noAutofit/>
          </a:bodyPr>
          <a:lstStyle/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Требуется переводчик.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Довольно часто докладчики злоупотребляют малопонятными графиками, не разъясняя зрителям как их правильно понимать. А также выступления часто пестрят сокращениями и аббревиатурами, или выступающие щеголяют малознакомыми терминами. 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Монолог.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Довольно часто докладчики все свои силы тратят на тщательную подготовку текста, затем стараются его выдать как можно быстрее. И все время говорят, говорят, говорят… В этот момент пропадает самый главный элемент выступления - взаимодействие со зрительным залом.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Очевидность.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Очень часто услышав начало доклада, зритель знает, что произойдет в финале. И ему в ту же секунду становится неинтересно.</a:t>
            </a:r>
          </a:p>
          <a:p>
            <a:pPr algn="just"/>
            <a:r>
              <a:rPr lang="ru-RU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Сухость фактов. </a:t>
            </a:r>
            <a:r>
              <a: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Почему-то докладчики очень любят цифры. А зрители не умеют их воспринимать на слух. Чаще всего зритель даже не знает, как понимать эти цифры: много это или мало, т.к. ему сложно их себе представить.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65A2E6-9CEB-4F64-AD15-5371D745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DCD5A8-0E5B-4E6A-8911-FF1B3020E8AD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1F2123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1F2123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246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5" y="817584"/>
            <a:ext cx="7416823" cy="1202485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660033"/>
                </a:solidFill>
                <a:latin typeface="+mn-lt"/>
              </a:rPr>
              <a:t>Как избежать плагиата в исследовательской работе: хитрости и возможности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48880"/>
            <a:ext cx="7416824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370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11218"/>
          </a:xfrm>
        </p:spPr>
        <p:txBody>
          <a:bodyPr/>
          <a:lstStyle/>
          <a:p>
            <a:r>
              <a:rPr lang="ru-RU" b="1" dirty="0">
                <a:solidFill>
                  <a:srgbClr val="660033"/>
                </a:solidFill>
                <a:latin typeface="+mn-lt"/>
              </a:rPr>
              <a:t>Полезные ссылки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1" y="1700808"/>
            <a:ext cx="7200800" cy="439248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chemeClr val="tx2"/>
                </a:solidFill>
                <a:hlinkClick r:id="rId2"/>
              </a:rPr>
              <a:t>http://academy.edu.by/component/content/article/2110.html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3"/>
              </a:rPr>
              <a:t>http://bpo.academy.edu.by/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4"/>
              </a:rPr>
              <a:t>https://adu.by/ru/uchitelyu/meropriyatiya-seminary-konferentsii-konkursy-i-dr.html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5"/>
              </a:rPr>
              <a:t>http://olimp.adu.by/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6"/>
              </a:rPr>
              <a:t>https://adu.by/ru/instytut/2016-03-14-13-28-45.html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7"/>
              </a:rPr>
              <a:t>http://agss-conf.org/poisk/</a:t>
            </a:r>
            <a:endParaRPr lang="ru-RU" dirty="0">
              <a:solidFill>
                <a:schemeClr val="tx2"/>
              </a:solidFill>
            </a:endParaRPr>
          </a:p>
          <a:p>
            <a:pPr algn="just"/>
            <a:r>
              <a:rPr lang="en-US" dirty="0">
                <a:solidFill>
                  <a:schemeClr val="tx2"/>
                </a:solidFill>
                <a:hlinkClick r:id="rId8"/>
              </a:rPr>
              <a:t>http://eco.m5.by/%d0%bf%d0%be%d0%bb%d0%be%d0%b6%d0%b5%d0%bd%d0%b8%d1%8f/</a:t>
            </a:r>
            <a:endParaRPr lang="ru-RU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CD5A8-0E5B-4E6A-8911-FF1B3020E8A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229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sldNum" idx="12"/>
          </p:nvPr>
        </p:nvSpPr>
        <p:spPr>
          <a:xfrm>
            <a:off x="8633335" y="6182000"/>
            <a:ext cx="1983200" cy="420800"/>
          </a:xfrm>
          <a:prstGeom prst="rect">
            <a:avLst/>
          </a:prstGeom>
        </p:spPr>
        <p:txBody>
          <a:bodyPr wrap="square" lIns="145119" tIns="145119" rIns="145119" bIns="145119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34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94" name="Shape 194"/>
          <p:cNvGrpSpPr/>
          <p:nvPr/>
        </p:nvGrpSpPr>
        <p:grpSpPr>
          <a:xfrm>
            <a:off x="251276" y="736472"/>
            <a:ext cx="412055" cy="537497"/>
            <a:chOff x="590250" y="244200"/>
            <a:chExt cx="407975" cy="532175"/>
          </a:xfrm>
        </p:grpSpPr>
        <p:sp>
          <p:nvSpPr>
            <p:cNvPr id="195" name="Shape 195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6" name="Shape 196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7" name="Shape 197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8" name="Shape 198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9" name="Shape 199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1" name="Shape 201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2" name="Shape 20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4" name="Shape 204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6" name="Shape 206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7" name="Shape 207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8" name="Shape 208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3572" y="519016"/>
            <a:ext cx="5449220" cy="1021600"/>
          </a:xfrm>
        </p:spPr>
        <p:txBody>
          <a:bodyPr/>
          <a:lstStyle/>
          <a:p>
            <a:r>
              <a:rPr lang="ru-RU" sz="2400" dirty="0"/>
              <a:t>Полезные ссылки: конкурсы для учителей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9296" y="2050651"/>
            <a:ext cx="8722659" cy="3632400"/>
          </a:xfrm>
        </p:spPr>
        <p:txBody>
          <a:bodyPr/>
          <a:lstStyle/>
          <a:p>
            <a:pPr marL="161270" indent="0" algn="just">
              <a:buNone/>
            </a:pPr>
            <a:r>
              <a:rPr lang="en-US" sz="2500" dirty="0">
                <a:hlinkClick r:id="rId3"/>
              </a:rPr>
              <a:t>http://academy.edu.by/component/content/article/2046.htm</a:t>
            </a:r>
            <a:r>
              <a:rPr lang="ru-RU" sz="2500" dirty="0"/>
              <a:t> - Международный конкурс проектов профессионального самоопределения обучающихся в рамках образовательного путешествия (1 марта–30 сентября 2019 г.)</a:t>
            </a:r>
          </a:p>
          <a:p>
            <a:pPr marL="161270" indent="0" algn="just">
              <a:buNone/>
            </a:pPr>
            <a:r>
              <a:rPr lang="en-US" sz="2500" dirty="0">
                <a:hlinkClick r:id="rId4"/>
              </a:rPr>
              <a:t>http://academy.edu.by/component/content/article/2037.htm</a:t>
            </a:r>
            <a:r>
              <a:rPr lang="ru-RU" sz="2500" dirty="0"/>
              <a:t>- Республиканские конкурсы методических разработок учителей-предметников, методистов ИРО, Р(Г)УМК</a:t>
            </a:r>
          </a:p>
          <a:p>
            <a:pPr marL="161270" indent="0" algn="just">
              <a:buNone/>
            </a:pPr>
            <a:r>
              <a:rPr lang="en-US" sz="2500" dirty="0">
                <a:hlinkClick r:id="rId5"/>
              </a:rPr>
              <a:t>http://academy.edu.by/semenarikonfer.html</a:t>
            </a:r>
            <a:r>
              <a:rPr lang="ru-RU" sz="2500" dirty="0"/>
              <a:t> - семинары и конференции АПО</a:t>
            </a:r>
          </a:p>
          <a:p>
            <a:pPr marL="161270" indent="0" algn="just">
              <a:buNone/>
            </a:pP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751527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sldNum" idx="12"/>
          </p:nvPr>
        </p:nvSpPr>
        <p:spPr>
          <a:xfrm>
            <a:off x="8633335" y="6182000"/>
            <a:ext cx="1983200" cy="420800"/>
          </a:xfrm>
          <a:prstGeom prst="rect">
            <a:avLst/>
          </a:prstGeom>
        </p:spPr>
        <p:txBody>
          <a:bodyPr wrap="square" lIns="145119" tIns="145119" rIns="145119" bIns="145119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35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94" name="Shape 194"/>
          <p:cNvGrpSpPr/>
          <p:nvPr/>
        </p:nvGrpSpPr>
        <p:grpSpPr>
          <a:xfrm>
            <a:off x="251274" y="736472"/>
            <a:ext cx="412055" cy="537497"/>
            <a:chOff x="590250" y="244200"/>
            <a:chExt cx="407975" cy="532175"/>
          </a:xfrm>
        </p:grpSpPr>
        <p:sp>
          <p:nvSpPr>
            <p:cNvPr id="195" name="Shape 195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6" name="Shape 196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7" name="Shape 197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8" name="Shape 198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9" name="Shape 199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1" name="Shape 201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2" name="Shape 20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4" name="Shape 204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6" name="Shape 206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7" name="Shape 207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8" name="Shape 208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defTabSz="1451426"/>
              <a:endParaRPr sz="22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3572" y="519016"/>
            <a:ext cx="5449220" cy="1021600"/>
          </a:xfrm>
        </p:spPr>
        <p:txBody>
          <a:bodyPr/>
          <a:lstStyle/>
          <a:p>
            <a:r>
              <a:rPr lang="ru-RU" sz="2400" dirty="0"/>
              <a:t>Полезные ссылки: конкурсы для учащихся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10670" y="1772816"/>
            <a:ext cx="8722659" cy="3632400"/>
          </a:xfrm>
        </p:spPr>
        <p:txBody>
          <a:bodyPr/>
          <a:lstStyle/>
          <a:p>
            <a:pPr marL="161270" indent="0" algn="just">
              <a:buNone/>
            </a:pPr>
            <a:r>
              <a:rPr lang="en-US" sz="2500" dirty="0">
                <a:hlinkClick r:id="rId3"/>
              </a:rPr>
              <a:t>http://academy.edu.by/component/content/article/1934.htm</a:t>
            </a:r>
            <a:r>
              <a:rPr lang="ru-RU" sz="2500" dirty="0"/>
              <a:t> - Международная дистанционная олимпиада «Созвездие талантов» (2018–2019 учебный год)</a:t>
            </a:r>
          </a:p>
          <a:p>
            <a:pPr marL="161270" indent="0" algn="just">
              <a:buNone/>
            </a:pPr>
            <a:r>
              <a:rPr lang="en-US" sz="2500" dirty="0">
                <a:hlinkClick r:id="rId4"/>
              </a:rPr>
              <a:t>http://academy.edu.by/component/content/article/2037.htm</a:t>
            </a:r>
            <a:r>
              <a:rPr lang="ru-RU" sz="2500" dirty="0"/>
              <a:t> - Республиканские конкурсы методических разработок учителей-предметников, методистов ИРО, Р(Г)УМК</a:t>
            </a:r>
          </a:p>
          <a:p>
            <a:pPr marL="161270" indent="0" algn="just">
              <a:buNone/>
            </a:pPr>
            <a:r>
              <a:rPr lang="en-US" sz="2500" dirty="0">
                <a:hlinkClick r:id="rId5"/>
              </a:rPr>
              <a:t>http://eco.m5.by/%D0%BF%D0%BE%D0%BB%D0%BE%D0%B6%D0%B5%D0%BD%D0%B8%D1%8F/</a:t>
            </a:r>
            <a:r>
              <a:rPr lang="ru-RU" sz="2500" dirty="0"/>
              <a:t> - Конкурсы, приводимые Учреждением образования «Гомельский государственный областной эколого-биологический центр детей и молодёжи» </a:t>
            </a:r>
          </a:p>
          <a:p>
            <a:pPr marL="161270" indent="0" algn="just">
              <a:buNone/>
            </a:pP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1811920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3284984"/>
            <a:ext cx="7056784" cy="12954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66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3. «От мотивации к результату: организация исследовательской деятельности с учащимися»</a:t>
            </a:r>
          </a:p>
        </p:txBody>
      </p:sp>
    </p:spTree>
    <p:extLst>
      <p:ext uri="{BB962C8B-B14F-4D97-AF65-F5344CB8AC3E}">
        <p14:creationId xmlns:p14="http://schemas.microsoft.com/office/powerpoint/2010/main" val="10131563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нопка">
  <a:themeElements>
    <a:clrScheme name="Другая 2">
      <a:dk1>
        <a:srgbClr val="7F7F7F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Кноп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ноп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822</TotalTime>
  <Words>2307</Words>
  <Application>Microsoft Office PowerPoint</Application>
  <PresentationFormat>Экран (4:3)</PresentationFormat>
  <Paragraphs>287</Paragraphs>
  <Slides>36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36</vt:i4>
      </vt:variant>
    </vt:vector>
  </HeadingPairs>
  <TitlesOfParts>
    <vt:vector size="49" baseType="lpstr">
      <vt:lpstr>Arial</vt:lpstr>
      <vt:lpstr>Arvo</vt:lpstr>
      <vt:lpstr>Brush Script MT</vt:lpstr>
      <vt:lpstr>Calibri</vt:lpstr>
      <vt:lpstr>Constantia</vt:lpstr>
      <vt:lpstr>Franklin Gothic Book</vt:lpstr>
      <vt:lpstr>Rage Italic</vt:lpstr>
      <vt:lpstr>Roboto Condensed</vt:lpstr>
      <vt:lpstr>Roboto Condensed Light</vt:lpstr>
      <vt:lpstr>Times New Roman</vt:lpstr>
      <vt:lpstr>Wingdings</vt:lpstr>
      <vt:lpstr>Кнопка</vt:lpstr>
      <vt:lpstr>1_Salerio template</vt:lpstr>
      <vt:lpstr>Занятие 3. «От мотивации к результату: организация исследовательской деятельности с учащимися»</vt:lpstr>
      <vt:lpstr>План </vt:lpstr>
      <vt:lpstr>Вопрос 2.  Выбор темы исследования и постановка проблемы. Требования к оформлению исследования: основные положения </vt:lpstr>
      <vt:lpstr>Что дает исследовательская деятельность для учащихся?</vt:lpstr>
      <vt:lpstr>Что дает исследовательская деятельность для учителя?</vt:lpstr>
      <vt:lpstr>Сравнение учебно-исследовательской и научно-исследовательской деятельности учащихся (по Н.И. Запрудскому)</vt:lpstr>
      <vt:lpstr>Сравнение учебно-исследовательской и научно-исследовательской деятельности учащихся (по Н.И. Запрудскому)</vt:lpstr>
      <vt:lpstr>Сравнение учебно-исследовательской и научно-исследовательской деятельности учащихся (по Н.И. Запрудскому)</vt:lpstr>
      <vt:lpstr>Что нужно, чтобы начать исследование?</vt:lpstr>
      <vt:lpstr>Требования к учебному исследованию  (по Н.И. Дереклеевой)</vt:lpstr>
      <vt:lpstr>Требования к учебному исследованию  (по Н.И. Дереклеевой)</vt:lpstr>
      <vt:lpstr>Специфика учебного исследования в начальной школе</vt:lpstr>
      <vt:lpstr>Этапы исследования в начальной школе</vt:lpstr>
      <vt:lpstr>Примерная тематика исследования в начальной школе</vt:lpstr>
      <vt:lpstr>Этапы исследовательской деятельности</vt:lpstr>
      <vt:lpstr>Объектная область, проблема, объект, предмет исследования</vt:lpstr>
      <vt:lpstr>Тема исследования   (по А.И. Савенкову)</vt:lpstr>
      <vt:lpstr>Актуальность выбранной темы</vt:lpstr>
      <vt:lpstr>Определение цели и задач исследования</vt:lpstr>
      <vt:lpstr>Выдвижение гипотезы (научного предположения) </vt:lpstr>
      <vt:lpstr>Составление плана исследовательской работы</vt:lpstr>
      <vt:lpstr>Определение методов исследования</vt:lpstr>
      <vt:lpstr>Этапы исследовательской деятельности</vt:lpstr>
      <vt:lpstr>Работа с литературой</vt:lpstr>
      <vt:lpstr>Этапы исследовательской деятельности</vt:lpstr>
      <vt:lpstr>Структура отчета об учебном исследовании (по Н.И. Запрудскому)</vt:lpstr>
      <vt:lpstr>Этапы исследовательской деятельности</vt:lpstr>
      <vt:lpstr>Типичные ошибки</vt:lpstr>
      <vt:lpstr>Вопрос 3. Представление результатов исследования (примеры «провала» и «успешности»)</vt:lpstr>
      <vt:lpstr>7 причин неудачных выступлений</vt:lpstr>
      <vt:lpstr>7 причин неудачных выступлений</vt:lpstr>
      <vt:lpstr>Как избежать плагиата в исследовательской работе: хитрости и возможности</vt:lpstr>
      <vt:lpstr>Полезные ссылки</vt:lpstr>
      <vt:lpstr>Полезные ссылки: конкурсы для учителей</vt:lpstr>
      <vt:lpstr>Полезные ссылки: конкурсы для учащихся</vt:lpstr>
      <vt:lpstr>Занятие 3. «От мотивации к результату: организация исследовательской деятельности с учащимися»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учебно-исследовательской деятельности в учреждениях общего среднего образования в 2019/2020 учебном году</dc:title>
  <dc:creator>Пользователь Windows</dc:creator>
  <cp:lastModifiedBy>Hitech</cp:lastModifiedBy>
  <cp:revision>57</cp:revision>
  <cp:lastPrinted>2019-08-19T08:03:44Z</cp:lastPrinted>
  <dcterms:created xsi:type="dcterms:W3CDTF">2019-08-18T14:42:43Z</dcterms:created>
  <dcterms:modified xsi:type="dcterms:W3CDTF">2025-11-02T13:42:33Z</dcterms:modified>
</cp:coreProperties>
</file>